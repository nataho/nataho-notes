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388BDF"/>
                </a:solidFill>
                <a:latin typeface="Calibri"/>
              </a:rPr>
              <a:t>SUBJECT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881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ITS 300 — Web Development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C8DAFA"/>
                </a:solidFill>
                <a:latin typeface="Calibri"/>
              </a:rPr>
              <a:t>Teacher: Ariel Bensing   •   3rd Year, 1st Semester   •   From static pages to a full live web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94760"/>
            <a:ext cx="640080" cy="420624"/>
          </a:xfrm>
          <a:prstGeom prst="roundRect">
            <a:avLst>
              <a:gd name="adj" fmla="val 50000"/>
            </a:avLst>
          </a:prstGeom>
          <a:solidFill>
            <a:srgbClr val="14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C8DAFA"/>
                </a:solidFill>
                <a:latin typeface="Calibri"/>
              </a:rPr>
              <a:t>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27631" y="3794760"/>
            <a:ext cx="640080" cy="420624"/>
          </a:xfrm>
          <a:prstGeom prst="roundRect">
            <a:avLst>
              <a:gd name="adj" fmla="val 50000"/>
            </a:avLst>
          </a:prstGeom>
          <a:solidFill>
            <a:srgbClr val="14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C8DAFA"/>
                </a:solidFill>
                <a:latin typeface="Calibri"/>
              </a:rPr>
              <a:t>CSS3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2303" y="3794760"/>
            <a:ext cx="1216152" cy="420624"/>
          </a:xfrm>
          <a:prstGeom prst="roundRect">
            <a:avLst>
              <a:gd name="adj" fmla="val 50000"/>
            </a:avLst>
          </a:prstGeom>
          <a:solidFill>
            <a:srgbClr val="14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C8DAFA"/>
                </a:solidFill>
                <a:latin typeface="Calibri"/>
              </a:rPr>
              <a:t>JavaScript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13048" y="3794760"/>
            <a:ext cx="1120140" cy="420624"/>
          </a:xfrm>
          <a:prstGeom prst="roundRect">
            <a:avLst>
              <a:gd name="adj" fmla="val 50000"/>
            </a:avLst>
          </a:prstGeom>
          <a:solidFill>
            <a:srgbClr val="14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C8DAFA"/>
                </a:solidFill>
                <a:latin typeface="Calibri"/>
              </a:rPr>
              <a:t>PHP + PDO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97780" y="3794760"/>
            <a:ext cx="736092" cy="420624"/>
          </a:xfrm>
          <a:prstGeom prst="roundRect">
            <a:avLst>
              <a:gd name="adj" fmla="val 50000"/>
            </a:avLst>
          </a:prstGeom>
          <a:solidFill>
            <a:srgbClr val="14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C8DAFA"/>
                </a:solidFill>
                <a:latin typeface="Calibri"/>
              </a:rPr>
              <a:t>MySQL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98464" y="3794760"/>
            <a:ext cx="832104" cy="420624"/>
          </a:xfrm>
          <a:prstGeom prst="roundRect">
            <a:avLst>
              <a:gd name="adj" fmla="val 50000"/>
            </a:avLst>
          </a:prstGeom>
          <a:solidFill>
            <a:srgbClr val="14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C8DAFA"/>
                </a:solidFill>
                <a:latin typeface="Calibri"/>
              </a:rPr>
              <a:t>Docker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3794760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14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C8DAFA"/>
                </a:solidFill>
                <a:latin typeface="Calibri"/>
              </a:rPr>
              <a:t>Symfony / Twig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59952" y="3794760"/>
            <a:ext cx="1984248" cy="420624"/>
          </a:xfrm>
          <a:prstGeom prst="roundRect">
            <a:avLst>
              <a:gd name="adj" fmla="val 50000"/>
            </a:avLst>
          </a:prstGeom>
          <a:solidFill>
            <a:srgbClr val="14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C8DAFA"/>
                </a:solidFill>
                <a:latin typeface="Calibri"/>
              </a:rPr>
              <a:t>Estrera Botanicals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949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A one-deck summary of everything covered in the subject, compiled from the vault notes.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900" b="1" i="0">
                <a:solidFill>
                  <a:srgbClr val="0F2233"/>
                </a:solidFill>
                <a:latin typeface="Calibri"/>
              </a:rPr>
              <a:t>The subject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777240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ITS 300 — Web Development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76809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One subject, one journey: build a real website front to back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Project: Estrera Botanicals — store + admin panel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Front-end trio — HTML (structure), CSS (looks), JavaScript (behavior)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Back-end — PHP with PDO talking to a MySQL database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Framework — Symfony wraps everything: controllers, Twig, Doctrine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Tooling — the whole stack runs in Docker containers, not local installs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Workflow aids — config.php constants, reusable HTML "components"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Delivery — uploads hosted by a personal server shared via Tailscale funnel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600200"/>
            <a:ext cx="3246120" cy="713232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350" b="1" i="0">
                <a:solidFill>
                  <a:srgbClr val="0F2233"/>
                </a:solidFill>
                <a:latin typeface="Calibri"/>
              </a:rPr>
              <a:t>HTML + CSS3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A8C"/>
                </a:solidFill>
                <a:latin typeface="Calibri"/>
              </a:rPr>
              <a:t>structure, selectors, responsive @media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496312"/>
            <a:ext cx="3246120" cy="713232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350" b="1" i="0">
                <a:solidFill>
                  <a:srgbClr val="0F2233"/>
                </a:solidFill>
                <a:latin typeface="Calibri"/>
              </a:rPr>
              <a:t>JavaScript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A8C"/>
                </a:solidFill>
                <a:latin typeface="Calibri"/>
              </a:rPr>
              <a:t>DOM, events, to-do list &amp; modal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3392424"/>
            <a:ext cx="3246120" cy="713232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350" b="1" i="0">
                <a:solidFill>
                  <a:srgbClr val="0F2233"/>
                </a:solidFill>
                <a:latin typeface="Calibri"/>
              </a:rPr>
              <a:t>PHP + PDO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A8C"/>
                </a:solidFill>
                <a:latin typeface="Calibri"/>
              </a:rPr>
              <a:t>forms, validation, database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4288536"/>
            <a:ext cx="3246120" cy="713232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350" b="1" i="0">
                <a:solidFill>
                  <a:srgbClr val="0F2233"/>
                </a:solidFill>
                <a:latin typeface="Calibri"/>
              </a:rPr>
              <a:t>MySQL + Docker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A8C"/>
                </a:solidFill>
                <a:latin typeface="Calibri"/>
              </a:rPr>
              <a:t>data, containerized stack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5184648"/>
            <a:ext cx="3246120" cy="713232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350" b="1" i="0">
                <a:solidFill>
                  <a:srgbClr val="0F2233"/>
                </a:solidFill>
                <a:latin typeface="Calibri"/>
              </a:rPr>
              <a:t>Symfony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A8C"/>
                </a:solidFill>
                <a:latin typeface="Calibri"/>
              </a:rPr>
              <a:t>controllers, Twig, entities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MODULE 1 • CSS3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900" b="1" i="0">
                <a:solidFill>
                  <a:srgbClr val="0F2233"/>
                </a:solidFill>
                <a:latin typeface="Calibri"/>
              </a:rPr>
              <a:t>Styling &amp; making it responsive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777240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ITS 300 — Web Development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111556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What CSS is — the formatting language for HTML documents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Syntax: h1 { color:blue; font-size:12px } — selector, properties, values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Three ways to embed styles — external &lt;link&gt;, internal &lt;style&gt;, inline style=""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Cascade priority when rules collide: inline &gt; internal &gt; external &gt; browser defaults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Selectors — ID (#), class (.), element, attribute, grouping + pseudo-classes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States like button:hover and button:active restyle elements by condition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CSS variables — :root { --primary-color } reused anywhere via var()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Responsive design — @media screen and (min-width:400px) + the viewport meta tag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Polish topics — box model, backgrounds, transforms, transitions, keyframe animation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Frameworks — Bootstrap 5 (component-first, rapid prototyping) vs Tailwind CSS (utility-first, complex custom ui)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MODULE 2 • CLIENT-SIDE SCRIPTING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900" b="1" i="0">
                <a:solidFill>
                  <a:srgbClr val="0F2233"/>
                </a:solidFill>
                <a:latin typeface="Calibri"/>
              </a:rPr>
              <a:t>JavaScript &amp; the DOM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777240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ITS 300 — Web Development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111556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Client-side = code that runs in the user's browser — instant feedback, no page reloads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The DOM — the browser turns every tag into a live object tree; edit it and the page updates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Manipulation in 4 steps — select → change → style → create/remove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select: getElementById / querySelector / querySelectorAll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change: textContent (plain, safe) vs innerHTML (markup — trusted input only!)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create/remove: createElement + appendChild + remove()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Events — element.addEventListener("click", handler)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Event object: e.target and e.preventDefault() stop the browser's default behavior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Hands-on examples — like counter, to-do list, and the modal pattern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Modals are pre-built in HTML/CSS, hidden by default — JS only toggles the .open class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Real-project habits — load scripts with defer, group selectors at the top, test in DevTools (F12)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MODULE 3 • PHP &amp; DATABASES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900" b="1" i="0">
                <a:solidFill>
                  <a:srgbClr val="0F2233"/>
                </a:solidFill>
                <a:latin typeface="Calibri"/>
              </a:rPr>
              <a:t>Server-side forms and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777240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ITS 300 — Web Development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111556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Getting form data from the user — two built-ins, two transports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$_GET rides in the URL (?name=Owen) — fine for searches, never for passwords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$_POST travels hidden in the request body — logins, sign-ups, saves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Four validation checks every field should get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required (trim + empty) → type/format (filter_var email) → length/range → regex pattern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Sanitizing vs validating — validate decides, sanitize cleans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Helpers: trim(), strip_tags(), filter_var(); escape output with htmlspecialchars() (anti-XSS)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PDO (PHP Data Objects) — the standard way PHP talks to a database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database/config.php builds the DSN: mysql:host=…;dbname=…;charset=utf8mb4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ERRMODE_EXCEPTION makes failures loud instead of silent — easier debugging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Watch out — two different config.php files exist: one for the DB connection, one for paths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MODULE 4 • 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900" b="1" i="0">
                <a:solidFill>
                  <a:srgbClr val="0F2233"/>
                </a:solidFill>
                <a:latin typeface="Calibri"/>
              </a:rPr>
              <a:t>Running the stack with Docker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777240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ITS 300 — Web Development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111556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Why Docker — migrate systems without breakage; next machine installs Docker only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Without it: outdated software, missing packages, inconsistent config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Two key pieces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Image = ready-to-deploy package (like a scanned, un-editable photo)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Container = a tiny VM running that image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The class stack — MySQL 8.0 + phpMyAdmin containers on one network + a data volume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compose.yaml declares both services once — docker compose up / stop / down -v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Reads secrets from .env (MYSQL_… variables); rename or delete compose.override.yaml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Connecting Symfony — DATABASE_URL in .env pulls those same variables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Don't confuse compose.yaml (containers) with composer (PHP packages)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MODULE 5 •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900" b="1" i="0">
                <a:solidFill>
                  <a:srgbClr val="0F2233"/>
                </a:solidFill>
                <a:latin typeface="Calibri"/>
              </a:rPr>
              <a:t>Symfony — everything wrapped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777240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ITS 300 — Web Development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111556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Prerequisite PHP 8.3+ — symfony new app --webapp, then symfony server:start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Controllers &amp; routes — symfony console make:controller Dashboard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Route lives in the PHP attribute: #[Route('/dashboard', name: 'app_dashboard')]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Twig templates — each page is a {% block body %} dropped into base.html.twig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Reusable UI — base layout holds the shared sidebar / nav / footer for all pages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Partial templates: {% include 'partials/sidebar.html.twig' %} keeps things clean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Doctrine entities = database tables, built by Symfony maker commands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make:entity → make:migration → doctrine:migrations:migrate → make:crud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Relations — e.g. ManyToOne: Product belongs to Category (answered in the make:entity prompts)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MODULE 6 • PERSONAL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900" b="1" i="0">
                <a:solidFill>
                  <a:srgbClr val="0F2233"/>
                </a:solidFill>
                <a:latin typeface="Calibri"/>
              </a:rPr>
              <a:t>Reusing code like a 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777240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ITS 300 — Web Development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111556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One config.php at the project root defines two constants — no more ../../ links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BASE_URL → "localhost/" or "yourwebsite.com/" — for linking pages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ROOT_DIR → the server's real folder (e.g. /var/www/html/) — for requiring files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Dynamic: keeps working even if the project moves into a subfolder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"OOP on HTML" — shared markup becomes PHP components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header.php holds the whole &lt;header&gt; once; every page pulls it in with</a:t>
            </a:r>
          </a:p>
          <a:p>
            <a:pPr marL="566928" indent="0">
              <a:lnSpc>
                <a:spcPct val="108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–    &lt;?php require ROOT_DIR . 'components/header.php' ?&gt;</a:t>
            </a:r>
          </a:p>
          <a:p>
            <a:pPr marL="201168" indent="0"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▸  Same idea as Symfony partials — write once, include everywhere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900" b="1" i="0">
                <a:solidFill>
                  <a:srgbClr val="0F2233"/>
                </a:solidFill>
                <a:latin typeface="Calibri"/>
              </a:rPr>
              <a:t>Projects — Estrera Botanicals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777240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ITS 300 — Web Development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3593592" cy="4480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600" b="1" i="0">
                <a:solidFill>
                  <a:srgbClr val="0F2233"/>
                </a:solidFill>
                <a:latin typeface="Calibri"/>
              </a:rPr>
              <a:t>Website Mockup — finished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00" b="1" i="0">
                <a:solidFill>
                  <a:srgbClr val="2563EB"/>
                </a:solidFill>
                <a:latin typeface="Calibri"/>
              </a:rPr>
              <a:t>due: Aug 15</a:t>
            </a:r>
          </a:p>
          <a:p>
            <a:pPr marL="182880" indent="0">
              <a:lnSpc>
                <a:spcPct val="112000"/>
              </a:lnSpc>
              <a:spcAft>
                <a:spcPts val="800"/>
              </a:spcAft>
            </a:pPr>
            <a:r>
              <a:rPr sz="1250" b="0" i="0">
                <a:solidFill>
                  <a:srgbClr val="334155"/>
                </a:solidFill>
                <a:latin typeface="Calibri"/>
              </a:rPr>
              <a:t>▸  12-page brand guide: primary &amp; secondary logos, monochrome set</a:t>
            </a:r>
          </a:p>
          <a:p>
            <a:pPr marL="182880" indent="0">
              <a:lnSpc>
                <a:spcPct val="112000"/>
              </a:lnSpc>
              <a:spcAft>
                <a:spcPts val="800"/>
              </a:spcAft>
            </a:pPr>
            <a:r>
              <a:rPr sz="1250" b="0" i="0">
                <a:solidFill>
                  <a:srgbClr val="334155"/>
                </a:solidFill>
                <a:latin typeface="Calibri"/>
              </a:rPr>
              <a:t>▸  Color palette for print (CMYK) and screens (RGB/Hex)</a:t>
            </a:r>
          </a:p>
          <a:p>
            <a:pPr marL="182880" indent="0">
              <a:lnSpc>
                <a:spcPct val="112000"/>
              </a:lnSpc>
              <a:spcAft>
                <a:spcPts val="800"/>
              </a:spcAft>
            </a:pPr>
            <a:r>
              <a:rPr sz="1250" b="0" i="0">
                <a:solidFill>
                  <a:srgbClr val="334155"/>
                </a:solidFill>
                <a:latin typeface="Calibri"/>
              </a:rPr>
              <a:t>▸  Typography: Angelicia Pro Display (headings), Inter (body)</a:t>
            </a:r>
          </a:p>
          <a:p>
            <a:pPr marL="182880" indent="0">
              <a:lnSpc>
                <a:spcPct val="112000"/>
              </a:lnSpc>
              <a:spcAft>
                <a:spcPts val="800"/>
              </a:spcAft>
            </a:pPr>
            <a:r>
              <a:rPr sz="1250" b="0" i="0">
                <a:solidFill>
                  <a:srgbClr val="334155"/>
                </a:solidFill>
                <a:latin typeface="Calibri"/>
              </a:rPr>
              <a:t>▸  Reference: truebotanicals.com   •   status: finished 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600200"/>
            <a:ext cx="3593592" cy="4480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600" b="1" i="0">
                <a:solidFill>
                  <a:srgbClr val="0F2233"/>
                </a:solidFill>
                <a:latin typeface="Calibri"/>
              </a:rPr>
              <a:t>Midterm Website — in progress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00" b="1" i="0">
                <a:solidFill>
                  <a:srgbClr val="2563EB"/>
                </a:solidFill>
                <a:latin typeface="Calibri"/>
              </a:rPr>
              <a:t>due: Sep 15</a:t>
            </a:r>
          </a:p>
          <a:p>
            <a:pPr marL="182880" indent="0">
              <a:lnSpc>
                <a:spcPct val="112000"/>
              </a:lnSpc>
              <a:spcAft>
                <a:spcPts val="800"/>
              </a:spcAft>
            </a:pPr>
            <a:r>
              <a:rPr sz="1250" b="0" i="0">
                <a:solidFill>
                  <a:srgbClr val="334155"/>
                </a:solidFill>
                <a:latin typeface="Calibri"/>
              </a:rPr>
              <a:t>▸  Continuation: build the actual site on a local server</a:t>
            </a:r>
          </a:p>
          <a:p>
            <a:pPr marL="182880" indent="0">
              <a:lnSpc>
                <a:spcPct val="112000"/>
              </a:lnSpc>
              <a:spcAft>
                <a:spcPts val="800"/>
              </a:spcAft>
            </a:pPr>
            <a:r>
              <a:rPr sz="1250" b="0" i="0">
                <a:solidFill>
                  <a:srgbClr val="334155"/>
                </a:solidFill>
                <a:latin typeface="Calibri"/>
              </a:rPr>
              <a:t>▸  Shared live with classmates via Tailscale funnel</a:t>
            </a:r>
          </a:p>
          <a:p>
            <a:pPr marL="182880" indent="0">
              <a:lnSpc>
                <a:spcPct val="112000"/>
              </a:lnSpc>
              <a:spcAft>
                <a:spcPts val="800"/>
              </a:spcAft>
            </a:pPr>
            <a:r>
              <a:rPr sz="1250" b="0" i="0">
                <a:solidFill>
                  <a:srgbClr val="334155"/>
                </a:solidFill>
                <a:latin typeface="Calibri"/>
              </a:rPr>
              <a:t>▸  Cleaned-up classes with AI help — e.g. a shared .btn style</a:t>
            </a:r>
          </a:p>
          <a:p>
            <a:pPr marL="182880" indent="0">
              <a:lnSpc>
                <a:spcPct val="112000"/>
              </a:lnSpc>
              <a:spcAft>
                <a:spcPts val="800"/>
              </a:spcAft>
            </a:pPr>
            <a:r>
              <a:rPr sz="1250" b="0" i="0">
                <a:solidFill>
                  <a:srgbClr val="334155"/>
                </a:solidFill>
                <a:latin typeface="Calibri"/>
              </a:rPr>
              <a:t>▸  Progress tracker + implementation notes in the vault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3024" y="1600200"/>
            <a:ext cx="3593592" cy="4480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600" b="1" i="0">
                <a:solidFill>
                  <a:srgbClr val="0F2233"/>
                </a:solidFill>
                <a:latin typeface="Calibri"/>
              </a:rPr>
              <a:t>Finals — Symfony admin panel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00" b="1" i="0">
                <a:solidFill>
                  <a:srgbClr val="2563EB"/>
                </a:solidFill>
                <a:latin typeface="Calibri"/>
              </a:rPr>
              <a:t>due: next</a:t>
            </a:r>
          </a:p>
          <a:p>
            <a:pPr marL="182880" indent="0">
              <a:lnSpc>
                <a:spcPct val="112000"/>
              </a:lnSpc>
              <a:spcAft>
                <a:spcPts val="800"/>
              </a:spcAft>
            </a:pPr>
            <a:r>
              <a:rPr sz="1250" b="0" i="0">
                <a:solidFill>
                  <a:srgbClr val="334155"/>
                </a:solidFill>
                <a:latin typeface="Calibri"/>
              </a:rPr>
              <a:t>▸  Tools needed: php -v, symfony CLI (install via scoop on Windows)</a:t>
            </a:r>
          </a:p>
          <a:p>
            <a:pPr marL="182880" indent="0">
              <a:lnSpc>
                <a:spcPct val="112000"/>
              </a:lnSpc>
              <a:spcAft>
                <a:spcPts val="800"/>
              </a:spcAft>
            </a:pPr>
            <a:r>
              <a:rPr sz="1250" b="0" i="0">
                <a:solidFill>
                  <a:srgbClr val="334155"/>
                </a:solidFill>
                <a:latin typeface="Calibri"/>
              </a:rPr>
              <a:t>▸  Admin panel built on the Symfony topic of Module 5</a:t>
            </a:r>
          </a:p>
          <a:p>
            <a:pPr marL="182880" indent="0">
              <a:lnSpc>
                <a:spcPct val="112000"/>
              </a:lnSpc>
              <a:spcAft>
                <a:spcPts val="800"/>
              </a:spcAft>
            </a:pPr>
            <a:r>
              <a:rPr sz="1250" b="0" i="0">
                <a:solidFill>
                  <a:srgbClr val="334155"/>
                </a:solidFill>
                <a:latin typeface="Calibri"/>
              </a:rPr>
              <a:t>▸  Entity + CRUD groundwork already prepared in Docker notes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MENTAL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900" b="1" i="0">
                <a:solidFill>
                  <a:srgbClr val="0F2233"/>
                </a:solidFill>
                <a:latin typeface="Calibri"/>
              </a:rPr>
              <a:t>The full stack in one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777240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ITS 300 — Web Development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938528" cy="960120"/>
          </a:xfrm>
          <a:prstGeom prst="roundRect">
            <a:avLst>
              <a:gd name="adj" fmla="val 12000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HTML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C8DAFA"/>
                </a:solidFill>
                <a:latin typeface="Calibri"/>
              </a:rPr>
              <a:t>structure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0320" y="2029968"/>
            <a:ext cx="320040" cy="274320"/>
          </a:xfrm>
          <a:prstGeom prst="rightArrow">
            <a:avLst/>
          </a:prstGeom>
          <a:solidFill>
            <a:srgbClr val="388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40" y="1691640"/>
            <a:ext cx="1938528" cy="960120"/>
          </a:xfrm>
          <a:prstGeom prst="roundRect">
            <a:avLst>
              <a:gd name="adj" fmla="val 12000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CSS3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C8DAFA"/>
                </a:solidFill>
                <a:latin typeface="Calibri"/>
              </a:rPr>
              <a:t>looks + responsive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46320" y="2029968"/>
            <a:ext cx="320040" cy="274320"/>
          </a:xfrm>
          <a:prstGeom prst="rightArrow">
            <a:avLst/>
          </a:prstGeom>
          <a:solidFill>
            <a:srgbClr val="388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20640" y="1691640"/>
            <a:ext cx="1938528" cy="960120"/>
          </a:xfrm>
          <a:prstGeom prst="roundRect">
            <a:avLst>
              <a:gd name="adj" fmla="val 12000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JS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C8DAFA"/>
                </a:solidFill>
                <a:latin typeface="Calibri"/>
              </a:rPr>
              <a:t>behavior via DOM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32320" y="2029968"/>
            <a:ext cx="320040" cy="274320"/>
          </a:xfrm>
          <a:prstGeom prst="rightArrow">
            <a:avLst/>
          </a:prstGeom>
          <a:solidFill>
            <a:srgbClr val="388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06640" y="1691640"/>
            <a:ext cx="1938528" cy="960120"/>
          </a:xfrm>
          <a:prstGeom prst="roundRect">
            <a:avLst>
              <a:gd name="adj" fmla="val 12000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PHP+PDO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C8DAFA"/>
                </a:solidFill>
                <a:latin typeface="Calibri"/>
              </a:rPr>
              <a:t>logic + DB access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18320" y="2029968"/>
            <a:ext cx="320040" cy="274320"/>
          </a:xfrm>
          <a:prstGeom prst="rightArrow">
            <a:avLst/>
          </a:prstGeom>
          <a:solidFill>
            <a:srgbClr val="388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92640" y="1691640"/>
            <a:ext cx="1938528" cy="960120"/>
          </a:xfrm>
          <a:prstGeom prst="roundRect">
            <a:avLst>
              <a:gd name="adj" fmla="val 12000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MySQL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C8DAFA"/>
                </a:solidFill>
                <a:latin typeface="Calibri"/>
              </a:rPr>
              <a:t>data (in Docker)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432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0" i="1">
                <a:solidFill>
                  <a:srgbClr val="6B7A8C"/>
                </a:solidFill>
                <a:latin typeface="Calibri"/>
              </a:rPr>
              <a:t>…and Symfony sits on top of all of it — Twig templates render it, Doctrine manages the data, Docker runs it anywhere.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429000"/>
            <a:ext cx="3639312" cy="237744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Write less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Calibri"/>
              </a:rPr>
              <a:t>config.php constants, HTML components, Twig partials and compose.yaml all kill copy-paste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61104" y="3429000"/>
            <a:ext cx="3639312" cy="237744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Keep it safe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Calibri"/>
              </a:rPr>
              <a:t>validate + sanitize every field; htmlspecialchars() on output; PDO with exceptions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429000"/>
            <a:ext cx="3639312" cy="237744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Separate concerns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Calibri"/>
              </a:rPr>
              <a:t>structure / style / behavior split — state lives in CSS classes, JS just toggles them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